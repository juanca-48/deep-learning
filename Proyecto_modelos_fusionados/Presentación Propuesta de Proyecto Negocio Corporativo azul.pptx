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swald Bold" charset="1" panose="00000800000000000000"/>
      <p:regular r:id="rId21"/>
    </p:embeddedFont>
    <p:embeddedFont>
      <p:font typeface="Codec Pro" charset="1" panose="00000500000000000000"/>
      <p:regular r:id="rId22"/>
    </p:embeddedFont>
    <p:embeddedFont>
      <p:font typeface="Oswald" charset="1" panose="00000500000000000000"/>
      <p:regular r:id="rId23"/>
    </p:embeddedFont>
    <p:embeddedFont>
      <p:font typeface="Open Sans Bold" charset="1" panose="020B0806030504020204"/>
      <p:regular r:id="rId24"/>
    </p:embeddedFont>
    <p:embeddedFont>
      <p:font typeface="Glacial Indifference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3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5400000">
            <a:off x="2659204" y="-6225116"/>
            <a:ext cx="6274575" cy="12450233"/>
            <a:chOff x="0" y="0"/>
            <a:chExt cx="3165983" cy="62820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318" y="4318"/>
              <a:ext cx="3157347" cy="6273419"/>
            </a:xfrm>
            <a:custGeom>
              <a:avLst/>
              <a:gdLst/>
              <a:ahLst/>
              <a:cxnLst/>
              <a:rect r="r" b="b" t="t" l="l"/>
              <a:pathLst>
                <a:path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ADC7E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6110" cy="6282055"/>
            </a:xfrm>
            <a:custGeom>
              <a:avLst/>
              <a:gdLst/>
              <a:ahLst/>
              <a:cxnLst/>
              <a:rect r="r" b="b" t="t" l="l"/>
              <a:pathLst>
                <a:path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132232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-5400000">
            <a:off x="9151444" y="4851745"/>
            <a:ext cx="6274575" cy="12450233"/>
            <a:chOff x="0" y="0"/>
            <a:chExt cx="3165983" cy="62820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" y="4318"/>
              <a:ext cx="3157347" cy="6273419"/>
            </a:xfrm>
            <a:custGeom>
              <a:avLst/>
              <a:gdLst/>
              <a:ahLst/>
              <a:cxnLst/>
              <a:rect r="r" b="b" t="t" l="l"/>
              <a:pathLst>
                <a:path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E0E6E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66110" cy="6282055"/>
            </a:xfrm>
            <a:custGeom>
              <a:avLst/>
              <a:gdLst/>
              <a:ahLst/>
              <a:cxnLst/>
              <a:rect r="r" b="b" t="t" l="l"/>
              <a:pathLst>
                <a:path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E0E6E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14229" y="6428718"/>
            <a:ext cx="12630150" cy="1114425"/>
            <a:chOff x="0" y="0"/>
            <a:chExt cx="3326459" cy="293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26459" cy="293511"/>
            </a:xfrm>
            <a:custGeom>
              <a:avLst/>
              <a:gdLst/>
              <a:ahLst/>
              <a:cxnLst/>
              <a:rect r="r" b="b" t="t" l="l"/>
              <a:pathLst>
                <a:path h="293511" w="3326459">
                  <a:moveTo>
                    <a:pt x="3123259" y="0"/>
                  </a:moveTo>
                  <a:cubicBezTo>
                    <a:pt x="3235484" y="0"/>
                    <a:pt x="3326459" y="65705"/>
                    <a:pt x="3326459" y="146756"/>
                  </a:cubicBezTo>
                  <a:cubicBezTo>
                    <a:pt x="3326459" y="227806"/>
                    <a:pt x="3235484" y="293511"/>
                    <a:pt x="3123259" y="293511"/>
                  </a:cubicBezTo>
                  <a:lnTo>
                    <a:pt x="203200" y="293511"/>
                  </a:lnTo>
                  <a:cubicBezTo>
                    <a:pt x="90976" y="293511"/>
                    <a:pt x="0" y="227806"/>
                    <a:pt x="0" y="146756"/>
                  </a:cubicBezTo>
                  <a:cubicBezTo>
                    <a:pt x="0" y="6570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326459" cy="360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5777" y="3758563"/>
            <a:ext cx="17936446" cy="34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</a:pPr>
            <a:r>
              <a:rPr lang="en-US" b="true" sz="7955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A DUAL-BACKBONE FUSION MODEL FOR VIDEOGAME SCREENSHOT CLASSIFICATION</a:t>
            </a:r>
          </a:p>
          <a:p>
            <a:pPr algn="ctr">
              <a:lnSpc>
                <a:spcPts val="906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38962" y="7422430"/>
            <a:ext cx="13293265" cy="10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2199" spc="10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JUAN CAMILO NIÑO — NICOLÁS ACEVEDO</a:t>
            </a:r>
          </a:p>
          <a:p>
            <a:pPr algn="l">
              <a:lnSpc>
                <a:spcPts val="2595"/>
              </a:lnSpc>
            </a:pPr>
            <a:r>
              <a:rPr lang="en-US" sz="2199" spc="103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DEEP LEARNING (2025-II)</a:t>
            </a:r>
          </a:p>
          <a:p>
            <a:pPr algn="l">
              <a:lnSpc>
                <a:spcPts val="2595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-428625" y="3501989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>
            <a:off x="12471329" y="7739549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-5400000">
            <a:off x="9766900" y="5394670"/>
            <a:ext cx="6274575" cy="12450233"/>
            <a:chOff x="0" y="0"/>
            <a:chExt cx="3165983" cy="62820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318" y="4318"/>
              <a:ext cx="3157347" cy="6273419"/>
            </a:xfrm>
            <a:custGeom>
              <a:avLst/>
              <a:gdLst/>
              <a:ahLst/>
              <a:cxnLst/>
              <a:rect r="r" b="b" t="t" l="l"/>
              <a:pathLst>
                <a:path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9DB3C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66110" cy="6282055"/>
            </a:xfrm>
            <a:custGeom>
              <a:avLst/>
              <a:gdLst/>
              <a:ahLst/>
              <a:cxnLst/>
              <a:rect r="r" b="b" t="t" l="l"/>
              <a:pathLst>
                <a:path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9DB3C1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5400000">
            <a:off x="2154379" y="-6870065"/>
            <a:ext cx="6274575" cy="12450233"/>
            <a:chOff x="0" y="0"/>
            <a:chExt cx="3165983" cy="62820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318" y="4318"/>
              <a:ext cx="3157347" cy="6273419"/>
            </a:xfrm>
            <a:custGeom>
              <a:avLst/>
              <a:gdLst/>
              <a:ahLst/>
              <a:cxnLst/>
              <a:rect r="r" b="b" t="t" l="l"/>
              <a:pathLst>
                <a:path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5B696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66110" cy="6282055"/>
            </a:xfrm>
            <a:custGeom>
              <a:avLst/>
              <a:gdLst/>
              <a:ahLst/>
              <a:cxnLst/>
              <a:rect r="r" b="b" t="t" l="l"/>
              <a:pathLst>
                <a:path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5B696F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3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40584" y="8447002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1467512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2533325" y="1949765"/>
            <a:ext cx="12318716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 spc="344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33325" y="3823957"/>
            <a:ext cx="14014265" cy="381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TASK: CLASSIFY A SCREENSHOT INTO ONE OF 10 GAMES</a:t>
            </a:r>
          </a:p>
          <a:p>
            <a:pPr algn="l">
              <a:lnSpc>
                <a:spcPts val="4977"/>
              </a:lnSpc>
            </a:pPr>
          </a:p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INPUT: RGB IMAGE (224×224) → OUTPUT: 10 LABELS</a:t>
            </a:r>
          </a:p>
          <a:p>
            <a:pPr algn="l">
              <a:lnSpc>
                <a:spcPts val="4977"/>
              </a:lnSpc>
            </a:pPr>
          </a:p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APPLICATION: INDEXING, RETRIEVAL, MODERATION</a:t>
            </a:r>
          </a:p>
          <a:p>
            <a:pPr algn="l">
              <a:lnSpc>
                <a:spcPts val="497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06257" cy="10287000"/>
            <a:chOff x="0" y="0"/>
            <a:chExt cx="181893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893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18932">
                  <a:moveTo>
                    <a:pt x="0" y="0"/>
                  </a:moveTo>
                  <a:lnTo>
                    <a:pt x="1818932" y="0"/>
                  </a:lnTo>
                  <a:lnTo>
                    <a:pt x="181893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22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18932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61797"/>
            <a:ext cx="5857780" cy="2084253"/>
            <a:chOff x="0" y="0"/>
            <a:chExt cx="7810373" cy="277900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100"/>
              <a:ext cx="7810373" cy="14456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41"/>
                </a:lnSpc>
              </a:pPr>
              <a:r>
                <a:rPr lang="en-US" sz="734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DATASET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51701"/>
              <a:ext cx="7050665" cy="528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26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59840"/>
              <a:ext cx="7810373" cy="419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3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6906244" y="5150644"/>
            <a:ext cx="11381776" cy="9525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-5400000">
            <a:off x="6901490" y="5686117"/>
            <a:ext cx="11381759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434757" y="1193330"/>
            <a:ext cx="4624350" cy="290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Bingsu/Gameplay_Images (Hugging Face)</a:t>
            </a:r>
          </a:p>
          <a:p>
            <a:pPr algn="l">
              <a:lnSpc>
                <a:spcPts val="575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121007" y="1193330"/>
            <a:ext cx="4624350" cy="290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10,000 PNGs — 10 classes (≈1000/class)</a:t>
            </a:r>
          </a:p>
          <a:p>
            <a:pPr algn="l">
              <a:lnSpc>
                <a:spcPts val="575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434757" y="6229350"/>
            <a:ext cx="4624350" cy="290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Resize → 224×224; stratified splits (64/16/20)</a:t>
            </a:r>
          </a:p>
          <a:p>
            <a:pPr algn="l">
              <a:lnSpc>
                <a:spcPts val="575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3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40584" y="8987638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1272283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1952130" y="1670781"/>
            <a:ext cx="12318716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 spc="344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MOTIVATION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2130" y="3701575"/>
            <a:ext cx="15185643" cy="318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GAMES SHARE HUDS, PALETTES → VISUAL CONFUSION</a:t>
            </a:r>
          </a:p>
          <a:p>
            <a:pPr algn="l">
              <a:lnSpc>
                <a:spcPts val="4977"/>
              </a:lnSpc>
            </a:pPr>
          </a:p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SINGLE MODELS MAY MISS COMPLEMENTARY CUES</a:t>
            </a:r>
          </a:p>
          <a:p>
            <a:pPr algn="l">
              <a:lnSpc>
                <a:spcPts val="4977"/>
              </a:lnSpc>
            </a:pPr>
          </a:p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FUSION: EXPLOIT THE BEST OF TWO BACKBONES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279284"/>
            <a:chOff x="0" y="0"/>
            <a:chExt cx="4816593" cy="863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63680"/>
            </a:xfrm>
            <a:custGeom>
              <a:avLst/>
              <a:gdLst/>
              <a:ahLst/>
              <a:cxnLst/>
              <a:rect r="r" b="b" t="t" l="l"/>
              <a:pathLst>
                <a:path h="8636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63680"/>
                  </a:lnTo>
                  <a:lnTo>
                    <a:pt x="0" y="863680"/>
                  </a:lnTo>
                  <a:close/>
                </a:path>
              </a:pathLst>
            </a:custGeom>
            <a:solidFill>
              <a:srgbClr val="1322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93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4462594"/>
            <a:ext cx="19355066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066763"/>
            <a:ext cx="13103867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MODEL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043" y="6387459"/>
            <a:ext cx="3492232" cy="34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943" spc="38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</a:t>
            </a:r>
            <a:r>
              <a:rPr lang="en-US" sz="1943" spc="38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obileNetV2 + VGG16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043" y="5296061"/>
            <a:ext cx="3492232" cy="38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69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DUAL BACKBONES</a:t>
            </a:r>
          </a:p>
        </p:txBody>
      </p:sp>
      <p:sp>
        <p:nvSpPr>
          <p:cNvPr name="AutoShape 9" id="9"/>
          <p:cNvSpPr/>
          <p:nvPr/>
        </p:nvSpPr>
        <p:spPr>
          <a:xfrm rot="-5397184">
            <a:off x="1664568" y="7365267"/>
            <a:ext cx="5814864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-5397184">
            <a:off x="6234187" y="7365267"/>
            <a:ext cx="5814864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-5397184">
            <a:off x="10803805" y="7365267"/>
            <a:ext cx="5814864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5359268" y="6078320"/>
            <a:ext cx="2995082" cy="123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2"/>
              </a:lnSpc>
              <a:spcBef>
                <a:spcPct val="0"/>
              </a:spcBef>
            </a:pPr>
            <a:r>
              <a:rPr lang="en-US" sz="2444" spc="48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</a:t>
            </a:r>
            <a:r>
              <a:rPr lang="en-US" sz="2444" spc="48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reprocessing per backbone, GAP, concatenate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3587" y="6215973"/>
            <a:ext cx="3582338" cy="97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943" spc="38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</a:t>
            </a:r>
            <a:r>
              <a:rPr lang="en-US" sz="1943" spc="38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ead: Dense(512) → Dropout(0.3) → Dense(10, softmax)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3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40584" y="8987638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1677760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316541"/>
            <a:ext cx="12318716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 spc="344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TRAINING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28886"/>
            <a:ext cx="15058362" cy="318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STAGE 1: FREEZE BACKBONES — TRAIN HEAD (LR=1E-3)</a:t>
            </a:r>
          </a:p>
          <a:p>
            <a:pPr algn="l">
              <a:lnSpc>
                <a:spcPts val="4977"/>
              </a:lnSpc>
            </a:pPr>
          </a:p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STAGE 2: UNFREEZE TAIL LAYERS — FINE-TUNING (LR=1E-4)</a:t>
            </a:r>
          </a:p>
          <a:p>
            <a:pPr algn="l">
              <a:lnSpc>
                <a:spcPts val="4977"/>
              </a:lnSpc>
            </a:pPr>
          </a:p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BATCH=32, TF.DATA PIPELINES, COLAB GPU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607">
            <a:off x="-94" y="3323447"/>
            <a:ext cx="18288287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19607">
            <a:off x="-122" y="7484410"/>
            <a:ext cx="18288287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5413360">
            <a:off x="4019815" y="5403951"/>
            <a:ext cx="4160972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5413360">
            <a:off x="10107240" y="5403951"/>
            <a:ext cx="4160972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427507" y="4573959"/>
            <a:ext cx="5433013" cy="209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0"/>
              </a:lnSpc>
            </a:pPr>
            <a:r>
              <a:rPr lang="en-US" sz="479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Macro-F1 (balance per class)</a:t>
            </a:r>
          </a:p>
          <a:p>
            <a:pPr algn="l">
              <a:lnSpc>
                <a:spcPts val="551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7" y="696725"/>
            <a:ext cx="8060582" cy="2106503"/>
            <a:chOff x="0" y="0"/>
            <a:chExt cx="2122952" cy="554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2952" cy="554799"/>
            </a:xfrm>
            <a:custGeom>
              <a:avLst/>
              <a:gdLst/>
              <a:ahLst/>
              <a:cxnLst/>
              <a:rect r="r" b="b" t="t" l="l"/>
              <a:pathLst>
                <a:path h="554799" w="2122952">
                  <a:moveTo>
                    <a:pt x="1919752" y="0"/>
                  </a:moveTo>
                  <a:lnTo>
                    <a:pt x="0" y="0"/>
                  </a:lnTo>
                  <a:lnTo>
                    <a:pt x="0" y="554799"/>
                  </a:lnTo>
                  <a:lnTo>
                    <a:pt x="1919752" y="554799"/>
                  </a:lnTo>
                  <a:lnTo>
                    <a:pt x="2122952" y="277400"/>
                  </a:lnTo>
                  <a:lnTo>
                    <a:pt x="1919752" y="0"/>
                  </a:lnTo>
                  <a:close/>
                </a:path>
              </a:pathLst>
            </a:custGeom>
            <a:solidFill>
              <a:srgbClr val="D9D9D9">
                <a:alpha val="3686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08652" cy="621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181651"/>
            <a:ext cx="13103867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132232"/>
                </a:solidFill>
                <a:latin typeface="Oswald"/>
                <a:ea typeface="Oswald"/>
                <a:cs typeface="Oswald"/>
                <a:sym typeface="Oswald"/>
              </a:rPr>
              <a:t>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0114" y="4718831"/>
            <a:ext cx="5433013" cy="139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0"/>
              </a:lnSpc>
            </a:pPr>
            <a:r>
              <a:rPr lang="en-US" sz="479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Top-1 Accuracy (primary)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1575" y="4468835"/>
            <a:ext cx="5433013" cy="209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0"/>
              </a:lnSpc>
            </a:pPr>
            <a:r>
              <a:rPr lang="en-US" sz="479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Confusion matrix + qualitative examples</a:t>
            </a:r>
          </a:p>
          <a:p>
            <a:pPr algn="l">
              <a:lnSpc>
                <a:spcPts val="551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607">
            <a:off x="-122" y="7484410"/>
            <a:ext cx="18288287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5413360">
            <a:off x="10107240" y="5403951"/>
            <a:ext cx="4160972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7" y="696725"/>
            <a:ext cx="8060582" cy="2769712"/>
            <a:chOff x="0" y="0"/>
            <a:chExt cx="2122952" cy="729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2952" cy="729472"/>
            </a:xfrm>
            <a:custGeom>
              <a:avLst/>
              <a:gdLst/>
              <a:ahLst/>
              <a:cxnLst/>
              <a:rect r="r" b="b" t="t" l="l"/>
              <a:pathLst>
                <a:path h="729472" w="2122952">
                  <a:moveTo>
                    <a:pt x="1919752" y="0"/>
                  </a:moveTo>
                  <a:lnTo>
                    <a:pt x="0" y="0"/>
                  </a:lnTo>
                  <a:lnTo>
                    <a:pt x="0" y="729472"/>
                  </a:lnTo>
                  <a:lnTo>
                    <a:pt x="1919752" y="729472"/>
                  </a:lnTo>
                  <a:lnTo>
                    <a:pt x="2122952" y="364736"/>
                  </a:lnTo>
                  <a:lnTo>
                    <a:pt x="1919752" y="0"/>
                  </a:lnTo>
                  <a:close/>
                </a:path>
              </a:pathLst>
            </a:custGeom>
            <a:solidFill>
              <a:srgbClr val="D9D9D9">
                <a:alpha val="3686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08652" cy="796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4516" y="4771418"/>
            <a:ext cx="8627317" cy="4698368"/>
          </a:xfrm>
          <a:custGeom>
            <a:avLst/>
            <a:gdLst/>
            <a:ahLst/>
            <a:cxnLst/>
            <a:rect r="r" b="b" t="t" l="l"/>
            <a:pathLst>
              <a:path h="4698368" w="8627317">
                <a:moveTo>
                  <a:pt x="0" y="0"/>
                </a:moveTo>
                <a:lnTo>
                  <a:pt x="8627317" y="0"/>
                </a:lnTo>
                <a:lnTo>
                  <a:pt x="8627317" y="4698368"/>
                </a:lnTo>
                <a:lnTo>
                  <a:pt x="0" y="4698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1619809"/>
            <a:ext cx="8559643" cy="7520065"/>
          </a:xfrm>
          <a:custGeom>
            <a:avLst/>
            <a:gdLst/>
            <a:ahLst/>
            <a:cxnLst/>
            <a:rect r="r" b="b" t="t" l="l"/>
            <a:pathLst>
              <a:path h="7520065" w="8559643">
                <a:moveTo>
                  <a:pt x="0" y="0"/>
                </a:moveTo>
                <a:lnTo>
                  <a:pt x="8559643" y="0"/>
                </a:lnTo>
                <a:lnTo>
                  <a:pt x="8559643" y="7520065"/>
                </a:lnTo>
                <a:lnTo>
                  <a:pt x="0" y="7520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181651"/>
            <a:ext cx="3539474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132232"/>
                </a:solidFill>
                <a:latin typeface="Oswald"/>
                <a:ea typeface="Oswald"/>
                <a:cs typeface="Oswald"/>
                <a:sym typeface="Oswald"/>
              </a:rPr>
              <a:t>METRICS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12055"/>
            <a:ext cx="45791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22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Fusion model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06257" cy="10287000"/>
            <a:chOff x="0" y="0"/>
            <a:chExt cx="181893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893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18932">
                  <a:moveTo>
                    <a:pt x="0" y="0"/>
                  </a:moveTo>
                  <a:lnTo>
                    <a:pt x="1818932" y="0"/>
                  </a:lnTo>
                  <a:lnTo>
                    <a:pt x="181893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22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18932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4238" y="4216928"/>
            <a:ext cx="5857780" cy="214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1"/>
              </a:lnSpc>
            </a:pPr>
            <a:r>
              <a:rPr lang="en-US" sz="734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QUANTITATIVE RESULTS</a:t>
            </a:r>
          </a:p>
        </p:txBody>
      </p:sp>
      <p:sp>
        <p:nvSpPr>
          <p:cNvPr name="AutoShape 6" id="6"/>
          <p:cNvSpPr/>
          <p:nvPr/>
        </p:nvSpPr>
        <p:spPr>
          <a:xfrm rot="-5398408">
            <a:off x="2758522" y="5138735"/>
            <a:ext cx="1028700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547722" y="1653944"/>
            <a:ext cx="722889" cy="7228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573802" y="1711941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Test loss: 0.0086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547722" y="3739350"/>
            <a:ext cx="722889" cy="7228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573802" y="3823649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Accuracy: 99.80%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7547722" y="5824756"/>
            <a:ext cx="722889" cy="72288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73802" y="5949754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Macro-F1: 99.80%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7547722" y="7910162"/>
            <a:ext cx="722889" cy="72288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573802" y="8075859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Per-class F1 ≈ 99.5–100%</a:t>
            </a:r>
          </a:p>
          <a:p>
            <a:pPr algn="l">
              <a:lnSpc>
                <a:spcPts val="292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40584" y="9783575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1806113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238718"/>
            <a:ext cx="6806348" cy="7112251"/>
          </a:xfrm>
          <a:custGeom>
            <a:avLst/>
            <a:gdLst/>
            <a:ahLst/>
            <a:cxnLst/>
            <a:rect r="r" b="b" t="t" l="l"/>
            <a:pathLst>
              <a:path h="7112251" w="6806348">
                <a:moveTo>
                  <a:pt x="0" y="0"/>
                </a:moveTo>
                <a:lnTo>
                  <a:pt x="6806348" y="0"/>
                </a:lnTo>
                <a:lnTo>
                  <a:pt x="6806348" y="7112251"/>
                </a:lnTo>
                <a:lnTo>
                  <a:pt x="0" y="711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61291" y="2146049"/>
            <a:ext cx="6641304" cy="7112251"/>
          </a:xfrm>
          <a:custGeom>
            <a:avLst/>
            <a:gdLst/>
            <a:ahLst/>
            <a:cxnLst/>
            <a:rect r="r" b="b" t="t" l="l"/>
            <a:pathLst>
              <a:path h="7112251" w="6641304">
                <a:moveTo>
                  <a:pt x="0" y="0"/>
                </a:moveTo>
                <a:lnTo>
                  <a:pt x="6641304" y="0"/>
                </a:lnTo>
                <a:lnTo>
                  <a:pt x="6641304" y="7112251"/>
                </a:lnTo>
                <a:lnTo>
                  <a:pt x="0" y="7112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3227" y="617075"/>
            <a:ext cx="12318716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 spc="344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QUALITATIVE EXAMPLES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9607">
            <a:off x="-122" y="7484410"/>
            <a:ext cx="18288287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5413360">
            <a:off x="10107240" y="5403951"/>
            <a:ext cx="4160972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7" y="696725"/>
            <a:ext cx="8060582" cy="2769712"/>
            <a:chOff x="0" y="0"/>
            <a:chExt cx="2122952" cy="729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2952" cy="729472"/>
            </a:xfrm>
            <a:custGeom>
              <a:avLst/>
              <a:gdLst/>
              <a:ahLst/>
              <a:cxnLst/>
              <a:rect r="r" b="b" t="t" l="l"/>
              <a:pathLst>
                <a:path h="729472" w="2122952">
                  <a:moveTo>
                    <a:pt x="1919752" y="0"/>
                  </a:moveTo>
                  <a:lnTo>
                    <a:pt x="0" y="0"/>
                  </a:lnTo>
                  <a:lnTo>
                    <a:pt x="0" y="729472"/>
                  </a:lnTo>
                  <a:lnTo>
                    <a:pt x="1919752" y="729472"/>
                  </a:lnTo>
                  <a:lnTo>
                    <a:pt x="2122952" y="364736"/>
                  </a:lnTo>
                  <a:lnTo>
                    <a:pt x="1919752" y="0"/>
                  </a:lnTo>
                  <a:close/>
                </a:path>
              </a:pathLst>
            </a:custGeom>
            <a:solidFill>
              <a:srgbClr val="D9D9D9">
                <a:alpha val="3686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08652" cy="796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277480" y="2237582"/>
            <a:ext cx="7393822" cy="6724303"/>
          </a:xfrm>
          <a:custGeom>
            <a:avLst/>
            <a:gdLst/>
            <a:ahLst/>
            <a:cxnLst/>
            <a:rect r="r" b="b" t="t" l="l"/>
            <a:pathLst>
              <a:path h="6724303" w="7393822">
                <a:moveTo>
                  <a:pt x="0" y="0"/>
                </a:moveTo>
                <a:lnTo>
                  <a:pt x="7393823" y="0"/>
                </a:lnTo>
                <a:lnTo>
                  <a:pt x="7393823" y="6724303"/>
                </a:lnTo>
                <a:lnTo>
                  <a:pt x="0" y="6724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977976"/>
            <a:ext cx="6882116" cy="5396549"/>
          </a:xfrm>
          <a:custGeom>
            <a:avLst/>
            <a:gdLst/>
            <a:ahLst/>
            <a:cxnLst/>
            <a:rect r="r" b="b" t="t" l="l"/>
            <a:pathLst>
              <a:path h="5396549" w="6882116">
                <a:moveTo>
                  <a:pt x="0" y="0"/>
                </a:moveTo>
                <a:lnTo>
                  <a:pt x="6882116" y="0"/>
                </a:lnTo>
                <a:lnTo>
                  <a:pt x="6882116" y="5396549"/>
                </a:lnTo>
                <a:lnTo>
                  <a:pt x="0" y="5396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181651"/>
            <a:ext cx="3539474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132232"/>
                </a:solidFill>
                <a:latin typeface="Oswald"/>
                <a:ea typeface="Oswald"/>
                <a:cs typeface="Oswald"/>
                <a:sym typeface="Oswald"/>
              </a:rPr>
              <a:t>METRICS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61151"/>
            <a:ext cx="55697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3223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Sequence model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06257" cy="10287000"/>
            <a:chOff x="0" y="0"/>
            <a:chExt cx="181893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893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18932">
                  <a:moveTo>
                    <a:pt x="0" y="0"/>
                  </a:moveTo>
                  <a:lnTo>
                    <a:pt x="1818932" y="0"/>
                  </a:lnTo>
                  <a:lnTo>
                    <a:pt x="181893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22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818932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4238" y="4216928"/>
            <a:ext cx="5857780" cy="214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1"/>
              </a:lnSpc>
            </a:pPr>
            <a:r>
              <a:rPr lang="en-US" sz="734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QUANTITATIVE RESULTS</a:t>
            </a:r>
          </a:p>
        </p:txBody>
      </p:sp>
      <p:sp>
        <p:nvSpPr>
          <p:cNvPr name="AutoShape 6" id="6"/>
          <p:cNvSpPr/>
          <p:nvPr/>
        </p:nvSpPr>
        <p:spPr>
          <a:xfrm rot="-5398408">
            <a:off x="2758522" y="5138735"/>
            <a:ext cx="1028700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547722" y="1653944"/>
            <a:ext cx="722889" cy="72288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573802" y="1711941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Test loss: 0.0298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547722" y="3739350"/>
            <a:ext cx="722889" cy="7228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573802" y="3823649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Accuracy: 98.95%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7547722" y="5824756"/>
            <a:ext cx="722889" cy="72288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73802" y="5949754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Macro-F1: 98.95%</a:t>
            </a:r>
          </a:p>
          <a:p>
            <a:pPr algn="l">
              <a:lnSpc>
                <a:spcPts val="2925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7547722" y="7910162"/>
            <a:ext cx="722889" cy="72288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  <a:r>
                <a:rPr lang="en-US" b="true" sz="2499" spc="23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573802" y="8075859"/>
            <a:ext cx="5915280" cy="77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33" spc="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Per-class F1 ≈ 99.5–100%</a:t>
            </a:r>
          </a:p>
          <a:p>
            <a:pPr algn="l">
              <a:lnSpc>
                <a:spcPts val="292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" y="696725"/>
            <a:ext cx="8060582" cy="2769712"/>
            <a:chOff x="0" y="0"/>
            <a:chExt cx="2122952" cy="729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2952" cy="729472"/>
            </a:xfrm>
            <a:custGeom>
              <a:avLst/>
              <a:gdLst/>
              <a:ahLst/>
              <a:cxnLst/>
              <a:rect r="r" b="b" t="t" l="l"/>
              <a:pathLst>
                <a:path h="729472" w="2122952">
                  <a:moveTo>
                    <a:pt x="1919752" y="0"/>
                  </a:moveTo>
                  <a:lnTo>
                    <a:pt x="0" y="0"/>
                  </a:lnTo>
                  <a:lnTo>
                    <a:pt x="0" y="729472"/>
                  </a:lnTo>
                  <a:lnTo>
                    <a:pt x="1919752" y="729472"/>
                  </a:lnTo>
                  <a:lnTo>
                    <a:pt x="2122952" y="364736"/>
                  </a:lnTo>
                  <a:lnTo>
                    <a:pt x="1919752" y="0"/>
                  </a:lnTo>
                  <a:close/>
                </a:path>
              </a:pathLst>
            </a:custGeom>
            <a:solidFill>
              <a:srgbClr val="D9D9D9">
                <a:alpha val="36863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008652" cy="796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7128" y="4078376"/>
            <a:ext cx="16323208" cy="4652114"/>
          </a:xfrm>
          <a:custGeom>
            <a:avLst/>
            <a:gdLst/>
            <a:ahLst/>
            <a:cxnLst/>
            <a:rect r="r" b="b" t="t" l="l"/>
            <a:pathLst>
              <a:path h="4652114" w="16323208">
                <a:moveTo>
                  <a:pt x="0" y="0"/>
                </a:moveTo>
                <a:lnTo>
                  <a:pt x="16323208" y="0"/>
                </a:lnTo>
                <a:lnTo>
                  <a:pt x="16323208" y="4652114"/>
                </a:lnTo>
                <a:lnTo>
                  <a:pt x="0" y="4652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81651"/>
            <a:ext cx="6369168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132232"/>
                </a:solidFill>
                <a:latin typeface="Oswald"/>
                <a:ea typeface="Oswald"/>
                <a:cs typeface="Oswald"/>
                <a:sym typeface="Oswald"/>
              </a:rPr>
              <a:t>COMPARATIVES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279284"/>
            <a:chOff x="0" y="0"/>
            <a:chExt cx="4816593" cy="863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63680"/>
            </a:xfrm>
            <a:custGeom>
              <a:avLst/>
              <a:gdLst/>
              <a:ahLst/>
              <a:cxnLst/>
              <a:rect r="r" b="b" t="t" l="l"/>
              <a:pathLst>
                <a:path h="8636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63680"/>
                  </a:lnTo>
                  <a:lnTo>
                    <a:pt x="0" y="863680"/>
                  </a:lnTo>
                  <a:close/>
                </a:path>
              </a:pathLst>
            </a:custGeom>
            <a:solidFill>
              <a:srgbClr val="1322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93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-5389766">
            <a:off x="1043978" y="6778379"/>
            <a:ext cx="7007747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40142" y="6778365"/>
            <a:ext cx="7007716" cy="9525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5405561">
            <a:off x="10167121" y="6778380"/>
            <a:ext cx="7007740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7888" y="1342519"/>
            <a:ext cx="13103867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DISCUSSION &amp; 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7888" y="6137916"/>
            <a:ext cx="3492232" cy="66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943" spc="38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1943" spc="38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lta precisión, robustez entre estilos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7888" y="4956412"/>
            <a:ext cx="3492232" cy="38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69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STRENGTHS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37405" y="6047810"/>
            <a:ext cx="3492232" cy="97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943" spc="38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</a:t>
            </a:r>
            <a:r>
              <a:rPr lang="en-US" sz="1943" spc="38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odelo pesado; posible fragilidad ante domain shift</a:t>
            </a:r>
          </a:p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085106" y="4956412"/>
            <a:ext cx="3492232" cy="38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69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LIMITS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63176" y="6047810"/>
            <a:ext cx="3492232" cy="66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943" spc="38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943" spc="38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istillation, augmentations, pruebas cross-source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63176" y="4956412"/>
            <a:ext cx="3492232" cy="38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69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MITIGATIONS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3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40584" y="8447002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1467512"/>
            <a:ext cx="1334741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2533325" y="1949765"/>
            <a:ext cx="12318716" cy="117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 spc="344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FUTURE WORK &amp; THANKS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33325" y="4259900"/>
            <a:ext cx="14014265" cy="12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ATENCIÓN PARA FUSIÓN ADA</a:t>
            </a:r>
            <a:r>
              <a:rPr lang="en-US" sz="3799" spc="75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PTATIVA, DISTILLATION, EVALUATION CROSS-SOURCE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DAG1vUeq-1M</dc:identifier>
  <dcterms:modified xsi:type="dcterms:W3CDTF">2011-08-01T06:04:30Z</dcterms:modified>
  <cp:revision>1</cp:revision>
  <dc:title>Presentación Propuesta de Proyecto Negocio Corporativo azul</dc:title>
</cp:coreProperties>
</file>